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7" r:id="rId5"/>
    <p:sldId id="283" r:id="rId6"/>
    <p:sldId id="284" r:id="rId7"/>
    <p:sldId id="258" r:id="rId8"/>
    <p:sldId id="285" r:id="rId9"/>
    <p:sldId id="259" r:id="rId10"/>
    <p:sldId id="261" r:id="rId11"/>
    <p:sldId id="265" r:id="rId12"/>
    <p:sldId id="260" r:id="rId13"/>
    <p:sldId id="277" r:id="rId14"/>
    <p:sldId id="286" r:id="rId15"/>
    <p:sldId id="287" r:id="rId16"/>
    <p:sldId id="288" r:id="rId17"/>
    <p:sldId id="289" r:id="rId18"/>
    <p:sldId id="29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580" y="52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3C146-E2BA-41EA-8AE9-0C67692768F2}" type="datetimeFigureOut">
              <a:rPr lang="en-US" smtClean="0"/>
              <a:t>12/8/2019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0C303-0EDA-42E1-9745-6C6A39A7B5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D3EB6-8099-4744-9273-C8C1DD61A2EA}" type="datetimeFigureOut">
              <a:rPr lang="en-US" noProof="0" smtClean="0"/>
              <a:t>12/8/2019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40A10-6036-4879-816D-55C01FC9484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anchor="b" anchorCtr="0">
            <a:noAutofit/>
          </a:bodyPr>
          <a:lstStyle>
            <a:lvl1pPr>
              <a:defRPr sz="6000"/>
            </a:lvl1pPr>
          </a:lstStyle>
          <a:p>
            <a:r>
              <a:rPr lang="en-US" noProof="0"/>
              <a:t>PITCH</a:t>
            </a:r>
            <a:br>
              <a:rPr lang="en-US" noProof="0"/>
            </a:br>
            <a:r>
              <a:rPr lang="en-US" noProof="0"/>
              <a:t>DECK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yout 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3434400" cy="100800"/>
            <a:chOff x="0" y="3240138"/>
            <a:chExt cx="3434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C9D5785-B116-4BE7-AC26-5CD6481FFA6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392200"/>
            <a:ext cx="5009495" cy="221017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062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or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anchor="b">
            <a:normAutofit/>
          </a:bodyPr>
          <a:lstStyle>
            <a:lvl1pPr algn="ctr"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5124396" y="1373283"/>
            <a:ext cx="1943208" cy="100800"/>
            <a:chOff x="3149478" y="1373283"/>
            <a:chExt cx="1943208" cy="1008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3149478" y="1373283"/>
              <a:ext cx="1943208" cy="100800"/>
              <a:chOff x="0" y="3237441"/>
              <a:chExt cx="1943208" cy="10080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0" y="3290538"/>
                <a:ext cx="189280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1842408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3149478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179281" y="1375202"/>
            <a:ext cx="5012719" cy="100800"/>
            <a:chOff x="304632" y="3240138"/>
            <a:chExt cx="3129768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632" y="3290538"/>
              <a:ext cx="307937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314481" y="1375202"/>
            <a:ext cx="7877519" cy="100800"/>
            <a:chOff x="245550" y="3240138"/>
            <a:chExt cx="401597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45550" y="3290538"/>
              <a:ext cx="40159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$12,345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$6,789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 with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4370400" cy="100800"/>
            <a:chOff x="-1228304" y="3240138"/>
            <a:chExt cx="4370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4320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04129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$25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$50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$100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BILLION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6" y="1374243"/>
            <a:ext cx="4319045" cy="100800"/>
            <a:chOff x="646012" y="3239179"/>
            <a:chExt cx="220185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2" y="3290538"/>
              <a:ext cx="216563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796480" y="3239179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11" descr="Competitors logos quadrant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2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2" name="Picture Placeholder 11" descr="Competitors logos quadrant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1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5" name="Picture Placeholder 11" descr="Competitors logos quadrant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3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6" name="Picture Placeholder 11" descr="Competitors logos quadrant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4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7" name="Picture Placeholder 11" descr="Competitors logos quadrant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5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8" name="Picture Placeholder 11" descr="Competitors logos quadrant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6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expensive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convenient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convenient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expensive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3360726" cy="100800"/>
            <a:chOff x="0" y="3240138"/>
            <a:chExt cx="3360726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27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25992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hart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TIMELINE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186215" y="1375202"/>
            <a:ext cx="3005785" cy="100800"/>
            <a:chOff x="2729180" y="3240138"/>
            <a:chExt cx="153234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9180" y="3290538"/>
              <a:ext cx="150492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3764756" cy="100800"/>
            <a:chOff x="-1228304" y="3240138"/>
            <a:chExt cx="3764756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672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435652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518150" y="860425"/>
            <a:ext cx="5870575" cy="486727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258048" cy="100800"/>
            <a:chOff x="0" y="3240138"/>
            <a:chExt cx="2258048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160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157248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6" name="Picture Placeholder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ntent Lay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395281" y="1375202"/>
            <a:ext cx="4796719" cy="100800"/>
            <a:chOff x="439494" y="3240138"/>
            <a:chExt cx="299490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94" y="3290538"/>
              <a:ext cx="294450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3149152" cy="100800"/>
            <a:chOff x="-1228304" y="3250524"/>
            <a:chExt cx="3149152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09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820048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anchor="b" anchorCtr="0">
            <a:noAutofit/>
          </a:bodyPr>
          <a:lstStyle>
            <a:lvl1pPr>
              <a:defRPr sz="5500"/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August Bergqvist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Phone: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+7 888 999-000-11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Email: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Bergqvist@vanarsdelltd.com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/>
              <a:t>Website: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www.vanarsdelltd.com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3" y="2750589"/>
            <a:ext cx="4569895" cy="100800"/>
            <a:chOff x="808548" y="2750589"/>
            <a:chExt cx="4569895" cy="100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496859" y="3285674"/>
                <a:ext cx="288714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5277642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3" y="1660573"/>
            <a:ext cx="4575417" cy="105664"/>
            <a:chOff x="808548" y="2745725"/>
            <a:chExt cx="4575417" cy="10566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496859" y="3285674"/>
                <a:ext cx="288714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5283164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anchor="b">
            <a:normAutofit/>
          </a:bodyPr>
          <a:lstStyle>
            <a:lvl1pPr algn="ctr">
              <a:defRPr sz="3600"/>
            </a:lvl1pPr>
          </a:lstStyle>
          <a:p>
            <a:r>
              <a:rPr lang="en-US" noProof="0"/>
              <a:t>APPENDIX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4736152" y="1509426"/>
            <a:ext cx="2719696" cy="100800"/>
            <a:chOff x="4732222" y="1509426"/>
            <a:chExt cx="2719696" cy="100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4732222" y="1509426"/>
              <a:ext cx="2669296" cy="100800"/>
              <a:chOff x="1693969" y="3240138"/>
              <a:chExt cx="1740431" cy="1008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1693969" y="3290538"/>
                <a:ext cx="169003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7351117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TESTIMONIALS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773282" y="1375202"/>
            <a:ext cx="4418718" cy="100800"/>
            <a:chOff x="675503" y="3240138"/>
            <a:chExt cx="2758897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503" y="3290538"/>
              <a:ext cx="270849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Customer Title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Customer Title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Customer Title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3866400" cy="100800"/>
            <a:chOff x="-1228304" y="3240138"/>
            <a:chExt cx="3866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81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53729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/>
              <a:t>1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/>
              <a:t>1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HOW TO USE THIS TEMPLATE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anchor="b" anchorCtr="0">
            <a:noAutofit/>
          </a:bodyPr>
          <a:lstStyle>
            <a:lvl1pPr>
              <a:defRPr sz="6000"/>
            </a:lvl1pPr>
          </a:lstStyle>
          <a:p>
            <a:r>
              <a:rPr lang="en-US" noProof="0"/>
              <a:t>PITCH</a:t>
            </a:r>
            <a:br>
              <a:rPr lang="en-US" noProof="0"/>
            </a:br>
            <a:r>
              <a:rPr lang="en-US" noProof="0"/>
              <a:t>DECK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102DC0-E499-4C34-9CD9-CDABF7108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819" y="2355057"/>
            <a:ext cx="9250363" cy="2147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545300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92" r:id="rId36"/>
    <p:sldLayoutId id="2147483689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bstract background&#10;">
            <a:extLst>
              <a:ext uri="{FF2B5EF4-FFF2-40B4-BE49-F238E27FC236}">
                <a16:creationId xmlns:a16="http://schemas.microsoft.com/office/drawing/2014/main" id="{403E5740-1FF0-42AF-A459-70BE0BD24F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700" y="0"/>
            <a:ext cx="60833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4B7241-C2B7-4F61-A69C-236E16A5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PERANCANGAN KEBIJAKAN KEAMANAN SISTEM INFORMASI STUDI KASUS UNIVERSITAS PERTAMINA</a:t>
            </a:r>
            <a:endParaRPr lang="ru-RU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3B61-D7B5-4C7A-80FB-02A3436F88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Adam Marsono Putra - 105216001</a:t>
            </a:r>
            <a:endParaRPr lang="ru-RU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2F6F7AF-A409-48DD-9E13-BCBB23B1BC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982231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197C78-259E-4657-A444-966F58562A59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rPr lang="en-US" dirty="0"/>
              <a:t>LATAR BELAKANG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73AD42-4E4E-45A2-AF46-3450008935A5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26FF1D7-38F0-4FAF-8052-B8AEE66978E8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rPr lang="en-US" dirty="0"/>
              <a:t>RUMUSAN MASALAH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61661-5A36-4E79-80B5-116D2AAFA27C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57D0D1-5961-4504-9B04-2E7192A7384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5930241" y="3692916"/>
            <a:ext cx="2810591" cy="292671"/>
          </a:xfrm>
        </p:spPr>
        <p:txBody>
          <a:bodyPr/>
          <a:lstStyle/>
          <a:p>
            <a:r>
              <a:rPr lang="en-US" dirty="0"/>
              <a:t>TUJUAN PENELITIAN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4CB2D7-C18E-4293-9F27-83794A03541C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B2559C2-1BA3-4140-AE36-D940D09218E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930241" y="5146055"/>
            <a:ext cx="2939439" cy="292671"/>
          </a:xfrm>
        </p:spPr>
        <p:txBody>
          <a:bodyPr>
            <a:normAutofit fontScale="92500"/>
          </a:bodyPr>
          <a:lstStyle/>
          <a:p>
            <a:r>
              <a:rPr lang="en-US" dirty="0"/>
              <a:t>MANFAAT PENELITIAN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8F4F51F-1AB9-4B4F-91F2-124F7319BC89}"/>
              </a:ext>
            </a:extLst>
          </p:cNvPr>
          <p:cNvSpPr>
            <a:spLocks noGrp="1"/>
          </p:cNvSpPr>
          <p:nvPr>
            <p:ph type="body" idx="35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A8DB52-EFD1-490F-9D30-DA1BE125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786" y="839219"/>
            <a:ext cx="2673606" cy="569086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04D123-3B64-40AC-8E19-13ACA846E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37053-6323-4E13-BED7-2CAB467A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3D475-C5F4-4E45-B91A-0747964B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12.09.2019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4A3626F-9F6C-446B-AA60-B1288D0E6D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97532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197C78-259E-4657-A444-966F58562A5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5930241" y="786637"/>
            <a:ext cx="2810591" cy="569086"/>
          </a:xfrm>
        </p:spPr>
        <p:txBody>
          <a:bodyPr>
            <a:normAutofit fontScale="92500"/>
          </a:bodyPr>
          <a:lstStyle/>
          <a:p>
            <a:r>
              <a:rPr lang="en-US" dirty="0"/>
              <a:t>BENTUK, LOKASI, DAN WAKTU PENELITIAN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26FF1D7-38F0-4FAF-8052-B8AEE66978E8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5930241" y="2239776"/>
            <a:ext cx="2810591" cy="563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METODE PENGUMPULAN </a:t>
            </a:r>
          </a:p>
          <a:p>
            <a:r>
              <a:rPr lang="en-US" dirty="0"/>
              <a:t>DATA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57D0D1-5961-4504-9B04-2E7192A7384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5930241" y="3692915"/>
            <a:ext cx="2810591" cy="563201"/>
          </a:xfrm>
        </p:spPr>
        <p:txBody>
          <a:bodyPr>
            <a:normAutofit/>
          </a:bodyPr>
          <a:lstStyle/>
          <a:p>
            <a:r>
              <a:rPr lang="en-US" sz="1800" dirty="0"/>
              <a:t>PERANCANGAN KEBIJAKAN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B2559C2-1BA3-4140-AE36-D940D09218E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930241" y="5146055"/>
            <a:ext cx="2939439" cy="292671"/>
          </a:xfrm>
        </p:spPr>
        <p:txBody>
          <a:bodyPr>
            <a:normAutofit/>
          </a:bodyPr>
          <a:lstStyle/>
          <a:p>
            <a:r>
              <a:rPr lang="en-US" sz="1800" dirty="0"/>
              <a:t>JADWAL PENELITIAN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A8DB52-EFD1-490F-9D30-DA1BE125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786" y="839219"/>
            <a:ext cx="2673606" cy="569086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04D123-3B64-40AC-8E19-13ACA846E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37053-6323-4E13-BED7-2CAB467A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3D475-C5F4-4E45-B91A-0747964B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12.09.2019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4A3626F-9F6C-446B-AA60-B1288D0E6D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93238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B26A0-76B0-4D92-8A3B-F4FB7FCB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LATAR BELAKANG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184F8-7D3E-4F39-85DA-53F65AF61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6770" y="3244567"/>
            <a:ext cx="4205904" cy="1934262"/>
          </a:xfrm>
        </p:spPr>
        <p:txBody>
          <a:bodyPr>
            <a:normAutofit/>
          </a:bodyPr>
          <a:lstStyle/>
          <a:p>
            <a:r>
              <a:rPr lang="en-US" sz="2800" dirty="0"/>
              <a:t>KETIADAAN KEBIJAKAN KEAMANAN SISTEM INFORMASI DI UNIVERSITAS PERTAMINA</a:t>
            </a:r>
          </a:p>
        </p:txBody>
      </p:sp>
      <p:pic>
        <p:nvPicPr>
          <p:cNvPr id="20" name="Picture Placeholder 19" descr="Abstract background">
            <a:extLst>
              <a:ext uri="{FF2B5EF4-FFF2-40B4-BE49-F238E27FC236}">
                <a16:creationId xmlns:a16="http://schemas.microsoft.com/office/drawing/2014/main" id="{61169563-0C6E-483D-91B6-7AB8952A8F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91C663-2D66-4255-91B4-906F720E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C88EDC-DE1B-4E22-AB2A-B461D5C8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MM.DD.20XX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DF69D5B-C6B6-4F6C-927C-31BAB3D1D9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9051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C3765-ACCB-4CA3-8399-82B2F625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MM.DD.20XX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1F07E-ECE9-4FDB-A9C1-DA6DD696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4643D8-8129-49E7-AD0E-BE0EBB01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KENAPA PENTING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488533-1FB1-425E-B71C-88256980D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3D4844D-C3F5-4CA4-A172-04CC2D2B8E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583257-C2A6-4223-9AAF-2DAFB304573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6927" y="3858610"/>
            <a:ext cx="2944368" cy="5055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VISI UNIVERSITAS </a:t>
            </a:r>
          </a:p>
          <a:p>
            <a:r>
              <a:rPr lang="en-US" dirty="0"/>
              <a:t>PERTAMINA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8C83E1-CC1D-4DFB-A469-0CA378F7E0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724728-74DE-4CD8-B637-F3285827162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4871314" y="4488872"/>
            <a:ext cx="2944368" cy="1202245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- Doherty, </a:t>
            </a:r>
            <a:r>
              <a:rPr lang="en-US" dirty="0" err="1">
                <a:solidFill>
                  <a:schemeClr val="bg2"/>
                </a:solidFill>
              </a:rPr>
              <a:t>Anastakis</a:t>
            </a:r>
            <a:r>
              <a:rPr lang="en-US" dirty="0">
                <a:solidFill>
                  <a:schemeClr val="bg2"/>
                </a:solidFill>
              </a:rPr>
              <a:t>, &amp; Fulford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A65EFE-8410-498C-925F-4EA5B62D23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017F10-B731-44DB-B457-0F671BB5C49E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71314" y="3858610"/>
            <a:ext cx="2944368" cy="399010"/>
          </a:xfrm>
        </p:spPr>
        <p:txBody>
          <a:bodyPr>
            <a:normAutofit/>
          </a:bodyPr>
          <a:lstStyle/>
          <a:p>
            <a:r>
              <a:rPr lang="en-US" dirty="0"/>
              <a:t>SEBUAH KEHARUSAN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F41DCA-D3FC-42EC-9FA2-AA000CEA9793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8515702" y="4563686"/>
            <a:ext cx="2944368" cy="1127431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- </a:t>
            </a:r>
            <a:r>
              <a:rPr lang="en-US" dirty="0" err="1">
                <a:solidFill>
                  <a:schemeClr val="bg2"/>
                </a:solidFill>
              </a:rPr>
              <a:t>Wawancara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dengan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Asisten</a:t>
            </a:r>
            <a:r>
              <a:rPr lang="en-US" dirty="0">
                <a:solidFill>
                  <a:schemeClr val="bg2"/>
                </a:solidFill>
              </a:rPr>
              <a:t> Manager TKI </a:t>
            </a:r>
            <a:r>
              <a:rPr lang="en-US" dirty="0" err="1">
                <a:solidFill>
                  <a:schemeClr val="bg2"/>
                </a:solidFill>
              </a:rPr>
              <a:t>bagian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Keamanan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Informasi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E2788F-8012-4379-9CA9-51638D916A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602884A-AE03-43B3-9F56-BF0375BCB87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515702" y="3858610"/>
            <a:ext cx="2944368" cy="56908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RIWAYAT TERGANGGUNYA ASPEK CIA DI UNIVERSITAS PERTAMINA</a:t>
            </a:r>
          </a:p>
        </p:txBody>
      </p:sp>
    </p:spTree>
    <p:extLst>
      <p:ext uri="{BB962C8B-B14F-4D97-AF65-F5344CB8AC3E}">
        <p14:creationId xmlns:p14="http://schemas.microsoft.com/office/powerpoint/2010/main" val="276270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ompany logo">
            <a:extLst>
              <a:ext uri="{FF2B5EF4-FFF2-40B4-BE49-F238E27FC236}">
                <a16:creationId xmlns:a16="http://schemas.microsoft.com/office/drawing/2014/main" id="{A7271147-093C-4AE4-8DB3-B51D6C633C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Picture Placeholder 19" descr="Abstract background&#10;">
            <a:extLst>
              <a:ext uri="{FF2B5EF4-FFF2-40B4-BE49-F238E27FC236}">
                <a16:creationId xmlns:a16="http://schemas.microsoft.com/office/drawing/2014/main" id="{3330B498-1497-4DA8-99F4-8F8159B24F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F93F71D-1663-42FA-A91E-FA23F03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RUMUSAN MASALAH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2CA978-7F10-45ED-A5E7-73BCC796D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4591" y="2243662"/>
            <a:ext cx="4473108" cy="3417305"/>
          </a:xfrm>
        </p:spPr>
        <p:txBody>
          <a:bodyPr>
            <a:normAutofit/>
          </a:bodyPr>
          <a:lstStyle/>
          <a:p>
            <a:r>
              <a:rPr lang="en-ID" dirty="0" err="1"/>
              <a:t>Belum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rumusan</a:t>
            </a:r>
            <a:r>
              <a:rPr lang="en-ID" dirty="0"/>
              <a:t> dan </a:t>
            </a:r>
            <a:r>
              <a:rPr lang="en-ID" dirty="0" err="1"/>
              <a:t>rancangan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di </a:t>
            </a:r>
            <a:r>
              <a:rPr lang="en-ID" dirty="0" err="1"/>
              <a:t>Universitas</a:t>
            </a:r>
            <a:r>
              <a:rPr lang="en-ID" dirty="0"/>
              <a:t> </a:t>
            </a:r>
            <a:r>
              <a:rPr lang="en-ID" dirty="0" err="1"/>
              <a:t>Pertamina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kurangnya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di </a:t>
            </a:r>
            <a:r>
              <a:rPr lang="en-ID" dirty="0" err="1"/>
              <a:t>Universitas</a:t>
            </a:r>
            <a:r>
              <a:rPr lang="en-ID" dirty="0"/>
              <a:t> </a:t>
            </a:r>
            <a:r>
              <a:rPr lang="en-ID" dirty="0" err="1"/>
              <a:t>Pertamina</a:t>
            </a:r>
            <a:r>
              <a:rPr lang="en-ID" dirty="0"/>
              <a:t> yang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celah</a:t>
            </a:r>
            <a:r>
              <a:rPr lang="en-ID" dirty="0"/>
              <a:t> dan </a:t>
            </a:r>
            <a:r>
              <a:rPr lang="en-ID" dirty="0" err="1"/>
              <a:t>kerentanan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 pada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di </a:t>
            </a:r>
            <a:r>
              <a:rPr lang="en-ID" dirty="0" err="1"/>
              <a:t>Universitas</a:t>
            </a:r>
            <a:r>
              <a:rPr lang="en-ID" dirty="0"/>
              <a:t> </a:t>
            </a:r>
            <a:r>
              <a:rPr lang="en-ID" dirty="0" err="1"/>
              <a:t>Pertamina</a:t>
            </a:r>
            <a:r>
              <a:rPr lang="en-ID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C7D40-6709-40D4-B0FB-9D6311AF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AB769-C08B-4A71-BEE7-D771D274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MM.DD.20XX</a:t>
            </a:r>
          </a:p>
        </p:txBody>
      </p:sp>
    </p:spTree>
    <p:extLst>
      <p:ext uri="{BB962C8B-B14F-4D97-AF65-F5344CB8AC3E}">
        <p14:creationId xmlns:p14="http://schemas.microsoft.com/office/powerpoint/2010/main" val="76429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66">
            <a:extLst>
              <a:ext uri="{FF2B5EF4-FFF2-40B4-BE49-F238E27FC236}">
                <a16:creationId xmlns:a16="http://schemas.microsoft.com/office/drawing/2014/main" id="{E72CC338-4598-4AF3-B140-D7F632D2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BATASAN MASALAH</a:t>
            </a:r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1411656D-4971-4CC0-9065-8DA32BB8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7FAD12-8FEF-41B8-B478-8793FF9B485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1850" y="3291840"/>
            <a:ext cx="4621299" cy="640080"/>
          </a:xfrm>
        </p:spPr>
        <p:txBody>
          <a:bodyPr/>
          <a:lstStyle/>
          <a:p>
            <a:r>
              <a:rPr lang="en-US" dirty="0"/>
              <a:t>Batasan 1 : </a:t>
            </a:r>
            <a:r>
              <a:rPr lang="en-US" dirty="0" err="1"/>
              <a:t>Fokus</a:t>
            </a:r>
            <a:r>
              <a:rPr lang="en-US" dirty="0"/>
              <a:t> Pada </a:t>
            </a:r>
            <a:r>
              <a:rPr lang="en-US" dirty="0" err="1"/>
              <a:t>Pengelolaan</a:t>
            </a:r>
            <a:r>
              <a:rPr lang="en-US" dirty="0"/>
              <a:t> </a:t>
            </a:r>
            <a:r>
              <a:rPr lang="en-US" dirty="0" err="1"/>
              <a:t>Keamanan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Informasi</a:t>
            </a:r>
            <a:endParaRPr lang="en-US" dirty="0"/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214C1BB-D845-4DB6-B4FC-B7AD5F5E0C3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460807" y="3291839"/>
            <a:ext cx="4433643" cy="8063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Batasan 2 : </a:t>
            </a:r>
            <a:r>
              <a:rPr lang="en-US" dirty="0" err="1"/>
              <a:t>Standar</a:t>
            </a:r>
            <a:r>
              <a:rPr lang="en-US" dirty="0"/>
              <a:t> dan </a:t>
            </a:r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Acuan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ISO 27001 dan ISO 27002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57CA9C-196E-494C-85C7-9B486105391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1850" y="4427607"/>
            <a:ext cx="4621299" cy="801098"/>
          </a:xfrm>
        </p:spPr>
        <p:txBody>
          <a:bodyPr>
            <a:normAutofit fontScale="92500"/>
          </a:bodyPr>
          <a:lstStyle/>
          <a:p>
            <a:r>
              <a:rPr lang="en-US" dirty="0"/>
              <a:t>Batasan 3 : Data-Data </a:t>
            </a:r>
            <a:r>
              <a:rPr lang="en-US" dirty="0" err="1"/>
              <a:t>Bergantung</a:t>
            </a:r>
            <a:r>
              <a:rPr lang="en-US" dirty="0"/>
              <a:t> Pada Yang </a:t>
            </a:r>
            <a:r>
              <a:rPr lang="en-US" dirty="0" err="1"/>
              <a:t>Diberikan</a:t>
            </a:r>
            <a:r>
              <a:rPr lang="en-US" dirty="0"/>
              <a:t> oleh </a:t>
            </a:r>
            <a:r>
              <a:rPr lang="en-US" dirty="0" err="1"/>
              <a:t>Karyawan</a:t>
            </a:r>
            <a:r>
              <a:rPr lang="en-US" dirty="0"/>
              <a:t> </a:t>
            </a:r>
            <a:r>
              <a:rPr lang="en-US" dirty="0" err="1"/>
              <a:t>Berwenang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(</a:t>
            </a:r>
            <a:r>
              <a:rPr lang="en-US" dirty="0" err="1"/>
              <a:t>Sistem</a:t>
            </a:r>
            <a:r>
              <a:rPr lang="en-US" dirty="0"/>
              <a:t>) </a:t>
            </a:r>
            <a:r>
              <a:rPr lang="en-US" dirty="0" err="1"/>
              <a:t>Informasi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9ADD0F-E05E-4B0E-9D9D-545FD755D7AE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460807" y="4427608"/>
            <a:ext cx="4433643" cy="640080"/>
          </a:xfrm>
        </p:spPr>
        <p:txBody>
          <a:bodyPr>
            <a:normAutofit/>
          </a:bodyPr>
          <a:lstStyle/>
          <a:p>
            <a:r>
              <a:rPr lang="en-US" dirty="0"/>
              <a:t>Batasan 4 : </a:t>
            </a:r>
            <a:r>
              <a:rPr lang="en-US" dirty="0" err="1"/>
              <a:t>Sebatas</a:t>
            </a:r>
            <a:r>
              <a:rPr lang="en-US" dirty="0"/>
              <a:t> </a:t>
            </a:r>
            <a:r>
              <a:rPr lang="en-US" dirty="0" err="1"/>
              <a:t>Rancangan</a:t>
            </a:r>
            <a:r>
              <a:rPr lang="en-US" dirty="0"/>
              <a:t> dan </a:t>
            </a:r>
            <a:r>
              <a:rPr lang="en-US" dirty="0" err="1"/>
              <a:t>Rekomendasi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81DBA-A3EE-4E75-90A6-DC25DF9D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EAA2-E066-4E86-A51B-FAC33331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MM.DD.20XX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1906377-ACC0-469A-8788-784961F5E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4006072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396AE-BE46-43FB-B4E7-224D2AF3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MM.DD.20XX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E0CB5-2F64-4439-AFE9-1BB3ACE6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CB059-9E3B-4C24-8E61-717292C2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TUJUAN PENELITIAN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139D5-668D-4A3D-B6B6-F71EC385C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66294D-2619-4D1A-B05B-3D0D3D454D7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831849" y="2905291"/>
            <a:ext cx="4438419" cy="2456418"/>
          </a:xfrm>
        </p:spPr>
        <p:txBody>
          <a:bodyPr anchor="t"/>
          <a:lstStyle/>
          <a:p>
            <a:r>
              <a:rPr lang="en-ID" dirty="0" err="1"/>
              <a:t>Terciptanya</a:t>
            </a:r>
            <a:r>
              <a:rPr lang="en-ID" dirty="0"/>
              <a:t> </a:t>
            </a:r>
            <a:r>
              <a:rPr lang="en-ID" dirty="0" err="1"/>
              <a:t>rancangan</a:t>
            </a:r>
            <a:r>
              <a:rPr lang="en-ID" dirty="0"/>
              <a:t>/</a:t>
            </a:r>
            <a:r>
              <a:rPr lang="en-ID" dirty="0" err="1"/>
              <a:t>rumusan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Universitas</a:t>
            </a:r>
            <a:r>
              <a:rPr lang="en-ID" dirty="0"/>
              <a:t> </a:t>
            </a:r>
            <a:r>
              <a:rPr lang="en-ID" dirty="0" err="1"/>
              <a:t>Pertamina</a:t>
            </a:r>
            <a:r>
              <a:rPr lang="en-ID" dirty="0"/>
              <a:t> yang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ISO/IEC 27001:2013 dan ISO/IEC 27002:2013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7417DC-FC17-44AD-B031-382F84E82EBC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098825" y="2905290"/>
            <a:ext cx="5289899" cy="2456417"/>
          </a:xfrm>
        </p:spPr>
        <p:txBody>
          <a:bodyPr anchor="t"/>
          <a:lstStyle/>
          <a:p>
            <a:r>
              <a:rPr lang="en-ID" dirty="0" err="1"/>
              <a:t>Terciptanya</a:t>
            </a:r>
            <a:r>
              <a:rPr lang="en-ID" dirty="0"/>
              <a:t> </a:t>
            </a:r>
            <a:r>
              <a:rPr lang="en-ID" dirty="0" err="1"/>
              <a:t>rancangan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aspek</a:t>
            </a:r>
            <a:r>
              <a:rPr lang="en-ID" dirty="0"/>
              <a:t> </a:t>
            </a:r>
            <a:r>
              <a:rPr lang="en-ID" dirty="0" err="1"/>
              <a:t>kerahasiaan</a:t>
            </a:r>
            <a:r>
              <a:rPr lang="en-ID" dirty="0"/>
              <a:t> (</a:t>
            </a:r>
            <a:r>
              <a:rPr lang="en-ID" i="1" dirty="0"/>
              <a:t>confidentiality</a:t>
            </a:r>
            <a:r>
              <a:rPr lang="en-ID" dirty="0"/>
              <a:t>), </a:t>
            </a:r>
            <a:r>
              <a:rPr lang="en-ID" dirty="0" err="1"/>
              <a:t>keutuhan</a:t>
            </a:r>
            <a:r>
              <a:rPr lang="en-ID" dirty="0"/>
              <a:t> (</a:t>
            </a:r>
            <a:r>
              <a:rPr lang="en-ID" i="1" dirty="0"/>
              <a:t>integrity</a:t>
            </a:r>
            <a:r>
              <a:rPr lang="en-ID" dirty="0"/>
              <a:t>), dan </a:t>
            </a:r>
            <a:r>
              <a:rPr lang="en-ID" dirty="0" err="1"/>
              <a:t>ketersediaan</a:t>
            </a:r>
            <a:r>
              <a:rPr lang="en-ID" dirty="0"/>
              <a:t> (</a:t>
            </a:r>
            <a:r>
              <a:rPr lang="en-ID" i="1" dirty="0"/>
              <a:t>availability</a:t>
            </a:r>
            <a:r>
              <a:rPr lang="en-ID" dirty="0"/>
              <a:t>)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yang </a:t>
            </a:r>
            <a:r>
              <a:rPr lang="en-ID" dirty="0" err="1"/>
              <a:t>dimiliki</a:t>
            </a:r>
            <a:r>
              <a:rPr lang="en-ID" dirty="0"/>
              <a:t> </a:t>
            </a:r>
            <a:r>
              <a:rPr lang="en-ID" dirty="0" err="1"/>
              <a:t>Universitas</a:t>
            </a:r>
            <a:r>
              <a:rPr lang="en-ID" dirty="0"/>
              <a:t> </a:t>
            </a:r>
            <a:r>
              <a:rPr lang="en-ID" dirty="0" err="1"/>
              <a:t>Pertamina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2F6C442-AD9D-498A-909C-F0339A9B29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76680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6C22-D0C4-4D8E-86F7-1A902F1C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MANFAAT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BE5B37-5B62-411B-BD45-E04DD958A3F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2"/>
                </a:solidFill>
              </a:rPr>
              <a:t>Rancangan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kebijakan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keamanan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sistem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informasi</a:t>
            </a:r>
            <a:r>
              <a:rPr lang="en-US" dirty="0">
                <a:solidFill>
                  <a:schemeClr val="bg2"/>
                </a:solidFill>
              </a:rPr>
              <a:t> yang </a:t>
            </a:r>
            <a:r>
              <a:rPr lang="en-US" dirty="0" err="1">
                <a:solidFill>
                  <a:schemeClr val="bg2"/>
                </a:solidFill>
              </a:rPr>
              <a:t>memenuhi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standar</a:t>
            </a:r>
            <a:r>
              <a:rPr lang="en-US" dirty="0">
                <a:solidFill>
                  <a:schemeClr val="bg2"/>
                </a:solidFill>
              </a:rPr>
              <a:t> ISO 27001 dan ISO 27002 </a:t>
            </a:r>
          </a:p>
          <a:p>
            <a:r>
              <a:rPr lang="en-US" dirty="0" err="1">
                <a:solidFill>
                  <a:schemeClr val="bg2"/>
                </a:solidFill>
              </a:rPr>
              <a:t>Dapat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dijadikan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sebagai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tatanan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kebijakan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keamanan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informasi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Universitas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Pertamina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dalam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menjamin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aspek</a:t>
            </a:r>
            <a:r>
              <a:rPr lang="en-US" dirty="0">
                <a:solidFill>
                  <a:schemeClr val="bg2"/>
                </a:solidFill>
              </a:rPr>
              <a:t> CIA pada </a:t>
            </a:r>
            <a:r>
              <a:rPr lang="en-US" dirty="0" err="1">
                <a:solidFill>
                  <a:schemeClr val="bg2"/>
                </a:solidFill>
              </a:rPr>
              <a:t>aset-aset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Universitas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Pertamina</a:t>
            </a:r>
            <a:r>
              <a:rPr lang="en-US" dirty="0">
                <a:solidFill>
                  <a:schemeClr val="bg2"/>
                </a:solidFill>
              </a:rPr>
              <a:t>.</a:t>
            </a:r>
          </a:p>
          <a:p>
            <a:r>
              <a:rPr lang="en-US" dirty="0" err="1">
                <a:solidFill>
                  <a:schemeClr val="bg2"/>
                </a:solidFill>
              </a:rPr>
              <a:t>Jangka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Pendek</a:t>
            </a:r>
            <a:r>
              <a:rPr lang="en-US" dirty="0">
                <a:solidFill>
                  <a:schemeClr val="bg2"/>
                </a:solidFill>
              </a:rPr>
              <a:t> : </a:t>
            </a:r>
            <a:r>
              <a:rPr lang="en-US" dirty="0" err="1">
                <a:solidFill>
                  <a:schemeClr val="bg2"/>
                </a:solidFill>
              </a:rPr>
              <a:t>Berkurangnya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risiko-risiko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keamanan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informasi</a:t>
            </a:r>
            <a:r>
              <a:rPr lang="en-US" dirty="0">
                <a:solidFill>
                  <a:schemeClr val="bg2"/>
                </a:solidFill>
              </a:rPr>
              <a:t> yang </a:t>
            </a:r>
            <a:r>
              <a:rPr lang="en-US" dirty="0" err="1">
                <a:solidFill>
                  <a:schemeClr val="bg2"/>
                </a:solidFill>
              </a:rPr>
              <a:t>terjadi</a:t>
            </a:r>
            <a:r>
              <a:rPr lang="en-US" dirty="0">
                <a:solidFill>
                  <a:schemeClr val="bg2"/>
                </a:solidFill>
              </a:rPr>
              <a:t> di </a:t>
            </a:r>
            <a:r>
              <a:rPr lang="en-US" dirty="0" err="1">
                <a:solidFill>
                  <a:schemeClr val="bg2"/>
                </a:solidFill>
              </a:rPr>
              <a:t>luar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kendali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 err="1">
                <a:solidFill>
                  <a:schemeClr val="bg2"/>
                </a:solidFill>
              </a:rPr>
              <a:t>Jangka</a:t>
            </a:r>
            <a:r>
              <a:rPr lang="en-US" dirty="0">
                <a:solidFill>
                  <a:schemeClr val="bg2"/>
                </a:solidFill>
              </a:rPr>
              <a:t> Panjang : </a:t>
            </a:r>
            <a:r>
              <a:rPr lang="en-US" dirty="0" err="1">
                <a:solidFill>
                  <a:schemeClr val="bg2"/>
                </a:solidFill>
              </a:rPr>
              <a:t>Reputasi</a:t>
            </a:r>
            <a:r>
              <a:rPr lang="en-US" dirty="0">
                <a:solidFill>
                  <a:schemeClr val="bg2"/>
                </a:solidFill>
              </a:rPr>
              <a:t> dan </a:t>
            </a:r>
            <a:r>
              <a:rPr lang="en-US" dirty="0" err="1">
                <a:solidFill>
                  <a:schemeClr val="bg2"/>
                </a:solidFill>
              </a:rPr>
              <a:t>nama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baik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18" name="Picture Placeholder 17" descr="Abstract background">
            <a:extLst>
              <a:ext uri="{FF2B5EF4-FFF2-40B4-BE49-F238E27FC236}">
                <a16:creationId xmlns:a16="http://schemas.microsoft.com/office/drawing/2014/main" id="{FA9DAA9F-5926-4BC1-8F7B-06E0B1C2F01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328BF-D489-4F39-BA27-5AD38E91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813B4-2C3F-45B0-A38D-A3FE79E6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MM.DD.20XX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FBBB6E-EB71-4831-89E5-8B748BD1DD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149445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F9A33A-E955-4DFB-9469-3FDBA670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BENTUK, LOKASI DAN WAKTU</a:t>
            </a:r>
            <a:br>
              <a:rPr lang="en-US" sz="2400" b="0" dirty="0"/>
            </a:br>
            <a:r>
              <a:rPr lang="en-US" sz="2400" b="0" dirty="0"/>
              <a:t>PELAKSANAAN PENELITIAN</a:t>
            </a:r>
            <a:endParaRPr lang="ru-RU" sz="2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804881-51D2-4A81-BABB-704FBED23E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2C39EE-B4D3-4E49-BF2C-871A33509C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850" y="3703834"/>
            <a:ext cx="4586288" cy="230941"/>
          </a:xfrm>
        </p:spPr>
        <p:txBody>
          <a:bodyPr/>
          <a:lstStyle/>
          <a:p>
            <a:r>
              <a:rPr lang="en-US" i="0" dirty="0" err="1"/>
              <a:t>Bentuk</a:t>
            </a:r>
            <a:r>
              <a:rPr lang="en-US" i="0" dirty="0"/>
              <a:t>:</a:t>
            </a:r>
            <a:endParaRPr lang="ru-RU" i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DB312C-BF94-484C-BB02-2534E26CEC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Applied Research/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Terapan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C87786-C7F5-4B45-904D-00CC865572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i="0" dirty="0" err="1"/>
              <a:t>Lokasi</a:t>
            </a:r>
            <a:endParaRPr lang="ru-RU" i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E60535-F276-49C5-9346-D536D6899F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err="1"/>
              <a:t>Universitas</a:t>
            </a:r>
            <a:r>
              <a:rPr lang="en-US" dirty="0"/>
              <a:t> </a:t>
            </a:r>
            <a:r>
              <a:rPr lang="en-US" dirty="0" err="1"/>
              <a:t>Pertamina</a:t>
            </a:r>
            <a:endParaRPr lang="ru-R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395049-FB9C-455B-8DCA-4BD0D35F1D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i="0" dirty="0"/>
              <a:t>Waktu</a:t>
            </a:r>
            <a:endParaRPr lang="ru-RU" i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5212BC-6862-4B56-B856-7A97BBD3D4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Januari</a:t>
            </a:r>
            <a:r>
              <a:rPr lang="en-US" dirty="0"/>
              <a:t>  - 30 April 2020</a:t>
            </a:r>
          </a:p>
        </p:txBody>
      </p:sp>
      <p:pic>
        <p:nvPicPr>
          <p:cNvPr id="15" name="Picture Placeholder 14" descr="Abstract background">
            <a:extLst>
              <a:ext uri="{FF2B5EF4-FFF2-40B4-BE49-F238E27FC236}">
                <a16:creationId xmlns:a16="http://schemas.microsoft.com/office/drawing/2014/main" id="{72AD0CC3-F8DE-4C10-916A-24BC65B1D28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791E0BA-476C-41BD-A4EA-1CAFA38C10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69567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C3765-ACCB-4CA3-8399-82B2F625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MM.DD.20XX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1F07E-ECE9-4FDB-A9C1-DA6DD696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4643D8-8129-49E7-AD0E-BE0EBB01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PENGUMPULAN 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488533-1FB1-425E-B71C-88256980D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Operationally Critical Threat, Asset, and Vulnerability Evaluation  Phase 1 dan Phase 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3D4844D-C3F5-4CA4-A172-04CC2D2B8E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583257-C2A6-4223-9AAF-2DAFB304573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6927" y="3858610"/>
            <a:ext cx="2944368" cy="505572"/>
          </a:xfrm>
        </p:spPr>
        <p:txBody>
          <a:bodyPr>
            <a:normAutofit/>
          </a:bodyPr>
          <a:lstStyle/>
          <a:p>
            <a:r>
              <a:rPr lang="en-US" dirty="0"/>
              <a:t>WAWANCARA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8C83E1-CC1D-4DFB-A469-0CA378F7E0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A65EFE-8410-498C-925F-4EA5B62D23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017F10-B731-44DB-B457-0F671BB5C49E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71314" y="3858610"/>
            <a:ext cx="2944368" cy="505572"/>
          </a:xfrm>
        </p:spPr>
        <p:txBody>
          <a:bodyPr>
            <a:normAutofit/>
          </a:bodyPr>
          <a:lstStyle/>
          <a:p>
            <a:r>
              <a:rPr lang="en-US" dirty="0"/>
              <a:t>OBSERVASI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E2788F-8012-4379-9CA9-51638D916A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602884A-AE03-43B3-9F56-BF0375BCB87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515702" y="3858610"/>
            <a:ext cx="2944368" cy="569085"/>
          </a:xfrm>
        </p:spPr>
        <p:txBody>
          <a:bodyPr>
            <a:normAutofit/>
          </a:bodyPr>
          <a:lstStyle/>
          <a:p>
            <a:r>
              <a:rPr lang="en-US" dirty="0"/>
              <a:t>VULNERABILITIES TESTING</a:t>
            </a:r>
          </a:p>
        </p:txBody>
      </p:sp>
    </p:spTree>
    <p:extLst>
      <p:ext uri="{BB962C8B-B14F-4D97-AF65-F5344CB8AC3E}">
        <p14:creationId xmlns:p14="http://schemas.microsoft.com/office/powerpoint/2010/main" val="406989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C3765-ACCB-4CA3-8399-82B2F625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MM.DD.20XX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1F07E-ECE9-4FDB-A9C1-DA6DD696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4643D8-8129-49E7-AD0E-BE0EBB01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PERANCANGAN KEBIJAKAN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488533-1FB1-425E-B71C-88256980D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OCTAVE Phase 3, FMEA, ISO 27001 &amp; 27002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3D4844D-C3F5-4CA4-A172-04CC2D2B8E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5583257-C2A6-4223-9AAF-2DAFB304573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6927" y="3858610"/>
            <a:ext cx="2944368" cy="505572"/>
          </a:xfrm>
        </p:spPr>
        <p:txBody>
          <a:bodyPr>
            <a:normAutofit/>
          </a:bodyPr>
          <a:lstStyle/>
          <a:p>
            <a:r>
              <a:rPr lang="en-US" dirty="0"/>
              <a:t>RISK MEASUREMENT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8C83E1-CC1D-4DFB-A469-0CA378F7E0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A65EFE-8410-498C-925F-4EA5B62D231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017F10-B731-44DB-B457-0F671BB5C49E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71314" y="3858610"/>
            <a:ext cx="2944368" cy="505572"/>
          </a:xfrm>
        </p:spPr>
        <p:txBody>
          <a:bodyPr>
            <a:normAutofit/>
          </a:bodyPr>
          <a:lstStyle/>
          <a:p>
            <a:r>
              <a:rPr lang="en-US" dirty="0"/>
              <a:t>GAP ANALYSIS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E2788F-8012-4379-9CA9-51638D916A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602884A-AE03-43B3-9F56-BF0375BCB87C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515702" y="3858611"/>
            <a:ext cx="2944368" cy="505572"/>
          </a:xfrm>
        </p:spPr>
        <p:txBody>
          <a:bodyPr>
            <a:normAutofit/>
          </a:bodyPr>
          <a:lstStyle/>
          <a:p>
            <a:r>
              <a:rPr lang="en-US" dirty="0"/>
              <a:t>GAP FILLING</a:t>
            </a:r>
          </a:p>
        </p:txBody>
      </p:sp>
    </p:spTree>
    <p:extLst>
      <p:ext uri="{BB962C8B-B14F-4D97-AF65-F5344CB8AC3E}">
        <p14:creationId xmlns:p14="http://schemas.microsoft.com/office/powerpoint/2010/main" val="1692428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73D475-C5F4-4E45-B91A-0747964B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12.09.2019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37053-6323-4E13-BED7-2CAB467A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A8DB52-EFD1-490F-9D30-DA1BE125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CBC63D-6719-40D9-9804-E876CCBD8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258FA-C159-4199-A064-867D649F0D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DA8B859-CE78-47EE-AE76-1FB74A44D2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JANUARI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5197C78-259E-4657-A444-966F58562A59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PENGUMPULAN DATA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26FF1D7-38F0-4FAF-8052-B8AEE66978E8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5930241" y="2239776"/>
            <a:ext cx="2810591" cy="69427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IDENTIFIKASI ASET,  THREAT, VULNERABILITES, DAN RISK MEASUREMENT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57D0D1-5961-4504-9B04-2E7192A7384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5930241" y="3692915"/>
            <a:ext cx="2810591" cy="4717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PERANCANGAN KEBIJAKAN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B2559C2-1BA3-4140-AE36-D940D09218E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930241" y="5146055"/>
            <a:ext cx="2810591" cy="4717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PERANCANGAN KEBIJAKAN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839E06F-5ED6-4D6D-BC1D-6B852B1CA0E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FEBRUARI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8C614B3-0681-4A96-A168-09948DE79D4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MARET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2C1710F-D3DA-468A-922C-A97516C1D7A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APRIL</a:t>
            </a:r>
          </a:p>
        </p:txBody>
      </p:sp>
    </p:spTree>
    <p:extLst>
      <p:ext uri="{BB962C8B-B14F-4D97-AF65-F5344CB8AC3E}">
        <p14:creationId xmlns:p14="http://schemas.microsoft.com/office/powerpoint/2010/main" val="3829645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B33E-ADF4-45C4-A992-16B4297E2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35953"/>
            <a:ext cx="9144000" cy="1786094"/>
          </a:xfrm>
        </p:spPr>
        <p:txBody>
          <a:bodyPr>
            <a:noAutofit/>
          </a:bodyPr>
          <a:lstStyle/>
          <a:p>
            <a:r>
              <a:rPr lang="en-US" sz="3600" dirty="0"/>
              <a:t>“IT'S OK TO HAVE YOUR EGGS IN ONE BASKET AS LONG AS YOU CONTROL WHAT HAPPENS TO THAT BASKET”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3AB1A-ABA5-4F61-811B-9D6327C2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MM.DD.20XX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DA685-1AE7-4C5E-8FEF-7224B90A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677F33F-9ECA-40EA-BFD4-7C4F6CD50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ea typeface="Yu Gothic Light" panose="020B0300000000000000" pitchFamily="34" charset="-128"/>
              </a:rPr>
              <a:t>ELON MUSK</a:t>
            </a:r>
          </a:p>
        </p:txBody>
      </p:sp>
    </p:spTree>
    <p:extLst>
      <p:ext uri="{BB962C8B-B14F-4D97-AF65-F5344CB8AC3E}">
        <p14:creationId xmlns:p14="http://schemas.microsoft.com/office/powerpoint/2010/main" val="3327197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2DA9-64C8-49DB-B676-2F84532A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REFERENSI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9668F-4241-42E2-8167-6B564867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56702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id-ID" sz="2400" dirty="0"/>
              <a:t>Bowman, N., &amp; Bastedo, M. (2011). Anchoring effects in world university rankings: exploring biases in reputation scores. </a:t>
            </a:r>
            <a:r>
              <a:rPr lang="id-ID" sz="2400" i="1" dirty="0"/>
              <a:t>Higher Education</a:t>
            </a:r>
            <a:r>
              <a:rPr lang="id-ID" sz="2400" dirty="0"/>
              <a:t>, 431-444.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id-ID" sz="2400" dirty="0"/>
              <a:t>Disterer, G. (2013). ISO/IEC 27000, 27001 and 27002 for Information. </a:t>
            </a:r>
            <a:r>
              <a:rPr lang="id-ID" sz="2400" i="1" dirty="0"/>
              <a:t>Journal of Information Security</a:t>
            </a:r>
            <a:r>
              <a:rPr lang="id-ID" sz="2400" dirty="0"/>
              <a:t>, 92-100.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id-ID" sz="2400" dirty="0"/>
              <a:t>Doherty, N. F., Anastasakis, L., &amp; Fulford, H. (2009). The information security policy unpacked: A critical study of the content of. </a:t>
            </a:r>
            <a:r>
              <a:rPr lang="id-ID" sz="2400" i="1" dirty="0"/>
              <a:t>International Journal of Information Management</a:t>
            </a:r>
            <a:r>
              <a:rPr lang="id-ID" sz="2400" dirty="0"/>
              <a:t>, 449-457.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id-ID" sz="2400" dirty="0"/>
              <a:t>Munisamy, S., Jaafar, N. I., &amp; Nagaraj, S. (2014). Does Reputation Matter? Case Study of Undergraduate Choice at a Premier University. </a:t>
            </a:r>
            <a:r>
              <a:rPr lang="id-ID" sz="2400" i="1" dirty="0"/>
              <a:t>Asia-Pacific Education Researcher</a:t>
            </a:r>
            <a:r>
              <a:rPr lang="id-ID" sz="2400" dirty="0"/>
              <a:t>, 451-462.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id-ID" sz="2400" dirty="0"/>
              <a:t>Safa, N. S., Solms, R. V., &amp; Furnell, S. (2016). Information security policy compliance. </a:t>
            </a:r>
            <a:r>
              <a:rPr lang="id-ID" sz="2400" i="1" dirty="0"/>
              <a:t>Computers &amp; Security</a:t>
            </a:r>
            <a:r>
              <a:rPr lang="id-ID" sz="2400" dirty="0"/>
              <a:t>, 70-82.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61745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56488565_Futuristic pitch deck_AAS_v4" id="{81C854B4-8588-4171-B50E-9B042741D072}" vid="{97BC3161-E59E-4E12-8009-433621174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26A944-A9F4-4295-9B5E-C397EB1318B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1743C61-8CA7-48FF-B2A3-6055DA854C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72965D8-9C19-4E48-8421-5D6B21FC44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tf56488565</Template>
  <TotalTime>0</TotalTime>
  <Words>617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Gill Sans MT</vt:lpstr>
      <vt:lpstr>Segoe UI Light</vt:lpstr>
      <vt:lpstr>Office Theme</vt:lpstr>
      <vt:lpstr>PERANCANGAN KEBIJAKAN KEAMANAN SISTEM INFORMASI STUDI KASUS UNIVERSITAS PERTAMINA</vt:lpstr>
      <vt:lpstr>OUTLINE</vt:lpstr>
      <vt:lpstr>OUTLINE</vt:lpstr>
      <vt:lpstr>LATAR BELAKANG</vt:lpstr>
      <vt:lpstr>KENAPA PENTING</vt:lpstr>
      <vt:lpstr>RUMUSAN MASALAH</vt:lpstr>
      <vt:lpstr>BATASAN MASALAH</vt:lpstr>
      <vt:lpstr>TUJUAN PENELITIAN</vt:lpstr>
      <vt:lpstr>MANFAAT</vt:lpstr>
      <vt:lpstr>BENTUK, LOKASI DAN WAKTU PELAKSANAAN PENELITIAN</vt:lpstr>
      <vt:lpstr>PENGUMPULAN DATA</vt:lpstr>
      <vt:lpstr>PERANCANGAN KEBIJAKAN</vt:lpstr>
      <vt:lpstr>TIMELINE</vt:lpstr>
      <vt:lpstr>“IT'S OK TO HAVE YOUR EGGS IN ONE BASKET AS LONG AS YOU CONTROL WHAT HAPPENS TO THAT BASKET”</vt:lpstr>
      <vt:lpstr>REFERENSI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2019-12-08T14:37:22Z</dcterms:created>
  <dcterms:modified xsi:type="dcterms:W3CDTF">2019-12-08T20:43:06Z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